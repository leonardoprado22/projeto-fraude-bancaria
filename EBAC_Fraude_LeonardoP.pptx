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Bricolage Grotesque Extra Bold" panose="020B0604020202020204" charset="0"/>
      <p:regular r:id="rId13"/>
    </p:embeddedFont>
    <p:embeddedFont>
      <p:font typeface="Montserrat" panose="00000500000000000000" pitchFamily="2" charset="0"/>
      <p:regular r:id="rId14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AEF6"/>
    <a:srgbClr val="090E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2220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4.pn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leonardo-leite-prado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14882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Detecção de Fraudes em Transações Bancárias com Aprendizado de Máquina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16622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e Modelagem Preditiva com foco em F1-Score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6151410"/>
            <a:ext cx="2835235" cy="354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Cientista de Dados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596466"/>
            <a:ext cx="2835235" cy="354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EBAC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856321" y="6128670"/>
            <a:ext cx="3501509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Banco Global Trust</a:t>
            </a:r>
            <a:r>
              <a:rPr lang="en-US" sz="2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(Fictício)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7461"/>
            <a:ext cx="29576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Contexto Estratégico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331952"/>
            <a:ext cx="11973520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O Custo da Confiança</a:t>
            </a:r>
            <a:endParaRPr lang="en-US" sz="8900" dirty="0"/>
          </a:p>
        </p:txBody>
      </p:sp>
      <p:sp>
        <p:nvSpPr>
          <p:cNvPr id="4" name="Shape 2"/>
          <p:cNvSpPr/>
          <p:nvPr/>
        </p:nvSpPr>
        <p:spPr>
          <a:xfrm>
            <a:off x="793790" y="3089791"/>
            <a:ext cx="6407944" cy="3010972"/>
          </a:xfrm>
          <a:prstGeom prst="roundRect">
            <a:avLst>
              <a:gd name="adj" fmla="val 3164"/>
            </a:avLst>
          </a:prstGeom>
          <a:solidFill>
            <a:srgbClr val="282D5E"/>
          </a:solidFill>
          <a:ln/>
        </p:spPr>
      </p:sp>
      <p:sp>
        <p:nvSpPr>
          <p:cNvPr id="5" name="Shape 3"/>
          <p:cNvSpPr/>
          <p:nvPr/>
        </p:nvSpPr>
        <p:spPr>
          <a:xfrm>
            <a:off x="1020604" y="331660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43799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3503652"/>
            <a:ext cx="306110" cy="3061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0604" y="4223861"/>
            <a:ext cx="437995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Perdas Milionárias Anuais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1020604" y="4785241"/>
            <a:ext cx="59543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Fraudes financeiras representam um risco sistêmico, comprometendo</a:t>
            </a:r>
            <a:r>
              <a:rPr lang="en-US" sz="1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capital e a lucratividade das instituições.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428548" y="3089791"/>
            <a:ext cx="6408063" cy="3010972"/>
          </a:xfrm>
          <a:prstGeom prst="roundRect">
            <a:avLst>
              <a:gd name="adj" fmla="val 3164"/>
            </a:avLst>
          </a:prstGeom>
          <a:solidFill>
            <a:srgbClr val="282D5E"/>
          </a:solidFill>
          <a:ln/>
        </p:spPr>
      </p:sp>
      <p:sp>
        <p:nvSpPr>
          <p:cNvPr id="10" name="Shape 7"/>
          <p:cNvSpPr/>
          <p:nvPr/>
        </p:nvSpPr>
        <p:spPr>
          <a:xfrm>
            <a:off x="7655362" y="331660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43799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2528" y="3503652"/>
            <a:ext cx="306110" cy="3061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55362" y="4223861"/>
            <a:ext cx="5221486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Erosão da Confiança do Cliente</a:t>
            </a:r>
            <a:endParaRPr lang="en-US" sz="2650" dirty="0"/>
          </a:p>
        </p:txBody>
      </p:sp>
      <p:sp>
        <p:nvSpPr>
          <p:cNvPr id="13" name="Text 9"/>
          <p:cNvSpPr/>
          <p:nvPr/>
        </p:nvSpPr>
        <p:spPr>
          <a:xfrm>
            <a:off x="7655362" y="4785241"/>
            <a:ext cx="59544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falha na proteção de ativos compromete a reputação e a lealdade, impactando a base de clientes a longo prazo.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1133951" y="6611064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Mesmo um desequilíbrio de </a:t>
            </a:r>
            <a:r>
              <a:rPr lang="en-US" sz="1750" dirty="0">
                <a:solidFill>
                  <a:srgbClr val="000000"/>
                </a:solidFill>
                <a:highlight>
                  <a:srgbClr val="EEAEF6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0.1% em falsos negativos</a:t>
            </a: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(fraudes não detectadas) pode representar milhões em prejuízo financeiro direto e indireto.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793790" y="6355913"/>
            <a:ext cx="30480" cy="1236107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C3A9692-F71E-89C5-92E1-C0F443DD4DEB}"/>
              </a:ext>
            </a:extLst>
          </p:cNvPr>
          <p:cNvSpPr/>
          <p:nvPr/>
        </p:nvSpPr>
        <p:spPr>
          <a:xfrm>
            <a:off x="12767310" y="7670202"/>
            <a:ext cx="1863090" cy="559398"/>
          </a:xfrm>
          <a:prstGeom prst="rect">
            <a:avLst/>
          </a:prstGeom>
          <a:solidFill>
            <a:srgbClr val="090E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39101" y="892612"/>
            <a:ext cx="3420785" cy="291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Desafio e Foco da Modelagem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139101" y="1258491"/>
            <a:ext cx="7757636" cy="466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Objetivo: Equilíbrio Ótimo de Desempenho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6139101" y="2004417"/>
            <a:ext cx="3826073" cy="2423755"/>
          </a:xfrm>
          <a:prstGeom prst="roundRect">
            <a:avLst>
              <a:gd name="adj" fmla="val 4527"/>
            </a:avLst>
          </a:prstGeom>
          <a:solidFill>
            <a:srgbClr val="090E3F"/>
          </a:solidFill>
          <a:ln w="22860">
            <a:solidFill>
              <a:srgbClr val="41467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16241" y="2004417"/>
            <a:ext cx="91440" cy="2423755"/>
          </a:xfrm>
          <a:prstGeom prst="roundRect">
            <a:avLst>
              <a:gd name="adj" fmla="val 85671"/>
            </a:avLst>
          </a:prstGeom>
          <a:solidFill>
            <a:srgbClr val="EEAEF6"/>
          </a:solidFill>
          <a:ln/>
        </p:spPr>
      </p:sp>
      <p:sp>
        <p:nvSpPr>
          <p:cNvPr id="7" name="Text 4"/>
          <p:cNvSpPr/>
          <p:nvPr/>
        </p:nvSpPr>
        <p:spPr>
          <a:xfrm>
            <a:off x="6416993" y="2213729"/>
            <a:ext cx="3338870" cy="69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Modelo Preditivo Robusto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16993" y="3024902"/>
            <a:ext cx="3338870" cy="1193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Desenvolver um modelo de Machine Learning capaz de identificar transações fraudulentas com alta acurácia e velocidade.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10151626" y="2004417"/>
            <a:ext cx="3826073" cy="2423755"/>
          </a:xfrm>
          <a:prstGeom prst="roundRect">
            <a:avLst>
              <a:gd name="adj" fmla="val 4527"/>
            </a:avLst>
          </a:prstGeom>
          <a:solidFill>
            <a:srgbClr val="090E3F"/>
          </a:solidFill>
          <a:ln w="22860">
            <a:solidFill>
              <a:srgbClr val="41467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128766" y="2004417"/>
            <a:ext cx="91440" cy="2423755"/>
          </a:xfrm>
          <a:prstGeom prst="roundRect">
            <a:avLst>
              <a:gd name="adj" fmla="val 85671"/>
            </a:avLst>
          </a:prstGeom>
          <a:solidFill>
            <a:srgbClr val="EEAEF6"/>
          </a:solidFill>
          <a:ln/>
        </p:spPr>
      </p:sp>
      <p:sp>
        <p:nvSpPr>
          <p:cNvPr id="11" name="Text 8"/>
          <p:cNvSpPr/>
          <p:nvPr/>
        </p:nvSpPr>
        <p:spPr>
          <a:xfrm>
            <a:off x="10429518" y="2213729"/>
            <a:ext cx="3338870" cy="69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Mínimo de Falsos Alertas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429518" y="3024902"/>
            <a:ext cx="3338870" cy="1193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 crucial manter o mínimo de Falsos Positivos para não sobrecarregar as equipes de risco e evitar a má experiência do cliente.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139101" y="4614624"/>
            <a:ext cx="3826073" cy="2722245"/>
          </a:xfrm>
          <a:prstGeom prst="roundRect">
            <a:avLst>
              <a:gd name="adj" fmla="val 4031"/>
            </a:avLst>
          </a:prstGeom>
          <a:solidFill>
            <a:srgbClr val="090E3F"/>
          </a:solidFill>
          <a:ln w="22860">
            <a:solidFill>
              <a:srgbClr val="41467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16241" y="4614624"/>
            <a:ext cx="91440" cy="2722245"/>
          </a:xfrm>
          <a:prstGeom prst="roundRect">
            <a:avLst>
              <a:gd name="adj" fmla="val 85671"/>
            </a:avLst>
          </a:prstGeom>
          <a:solidFill>
            <a:srgbClr val="EEAEF6"/>
          </a:solidFill>
          <a:ln/>
        </p:spPr>
      </p:sp>
      <p:sp>
        <p:nvSpPr>
          <p:cNvPr id="15" name="Text 12"/>
          <p:cNvSpPr/>
          <p:nvPr/>
        </p:nvSpPr>
        <p:spPr>
          <a:xfrm>
            <a:off x="6416993" y="4823936"/>
            <a:ext cx="3338870" cy="69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Métrica Principal: F1-Score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416993" y="5635109"/>
            <a:ext cx="3338870" cy="1193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Priorizamos o F1-Score, pois ele mede o equilíbrio entre </a:t>
            </a:r>
            <a:r>
              <a:rPr lang="en-US" sz="14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Recall</a:t>
            </a: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(detecção de fraudes reais) e </a:t>
            </a:r>
            <a:r>
              <a:rPr lang="en-US" sz="14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Precision</a:t>
            </a: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(evitar falsos alarmes).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10151626" y="4614624"/>
            <a:ext cx="3826073" cy="2722245"/>
          </a:xfrm>
          <a:prstGeom prst="roundRect">
            <a:avLst>
              <a:gd name="adj" fmla="val 4031"/>
            </a:avLst>
          </a:prstGeom>
          <a:solidFill>
            <a:srgbClr val="090E3F"/>
          </a:solidFill>
          <a:ln w="22860">
            <a:solidFill>
              <a:srgbClr val="41467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128766" y="4614624"/>
            <a:ext cx="91440" cy="2722245"/>
          </a:xfrm>
          <a:prstGeom prst="roundRect">
            <a:avLst>
              <a:gd name="adj" fmla="val 85671"/>
            </a:avLst>
          </a:prstGeom>
          <a:solidFill>
            <a:srgbClr val="EEAEF6"/>
          </a:solidFill>
          <a:ln/>
        </p:spPr>
      </p:sp>
      <p:sp>
        <p:nvSpPr>
          <p:cNvPr id="19" name="Text 16"/>
          <p:cNvSpPr/>
          <p:nvPr/>
        </p:nvSpPr>
        <p:spPr>
          <a:xfrm>
            <a:off x="10429518" y="4823936"/>
            <a:ext cx="3338870" cy="69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Confiabilidade dos Dados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0429518" y="5635109"/>
            <a:ext cx="3338870" cy="1492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Garantir a qualidade e o balanceamento dos dados é essencial para reduzir vieses e aumentar a confiança nas decisões automatizadas.</a:t>
            </a:r>
            <a:endParaRPr lang="en-US" sz="1450" dirty="0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7EEC020E-F3CE-CDD0-4674-B49C6F799E13}"/>
              </a:ext>
            </a:extLst>
          </p:cNvPr>
          <p:cNvSpPr/>
          <p:nvPr/>
        </p:nvSpPr>
        <p:spPr>
          <a:xfrm>
            <a:off x="12767310" y="7670202"/>
            <a:ext cx="1863090" cy="559398"/>
          </a:xfrm>
          <a:prstGeom prst="rect">
            <a:avLst/>
          </a:prstGeom>
          <a:solidFill>
            <a:srgbClr val="090E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7275"/>
            <a:ext cx="44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Análise Exploratória do Dataset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502331"/>
            <a:ext cx="861226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Características dos Dados Financeiros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2613541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composto por </a:t>
            </a:r>
            <a:r>
              <a:rPr lang="en-US" sz="1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284.807 transações financeiras anônimas</a:t>
            </a: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representativas de um período operacional de dois dias em setembro de 2023.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781544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Variáveis de entrada transformadas via </a:t>
            </a:r>
            <a:r>
              <a:rPr lang="en-US" sz="1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de Componentes Principais (PCA)</a:t>
            </a: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V1 a V28, protegendo dados sensíveis.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949547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classe alvo (fraude) é </a:t>
            </a:r>
            <a:r>
              <a:rPr lang="en-US" sz="1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extremamente minoritária</a:t>
            </a: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caracterizando um problema de dados desbalanceados.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879425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Este desbalanceamento (</a:t>
            </a:r>
            <a:r>
              <a:rPr lang="en-US" sz="1750" b="1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0.17%</a:t>
            </a:r>
            <a:r>
              <a:rPr lang="en-US" sz="1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fraudes) é o maior desafio, exigindo técnicas avançadas de preparação de dados para garantir que o modelo não ignore a classe minoritária.</a:t>
            </a:r>
            <a:endParaRPr lang="en-US" sz="17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96" y="2664619"/>
            <a:ext cx="4876800" cy="345281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0DEF490E-A689-749D-E3FC-3844C951C8C7}"/>
              </a:ext>
            </a:extLst>
          </p:cNvPr>
          <p:cNvSpPr/>
          <p:nvPr/>
        </p:nvSpPr>
        <p:spPr>
          <a:xfrm>
            <a:off x="12767310" y="7670202"/>
            <a:ext cx="1863090" cy="559398"/>
          </a:xfrm>
          <a:prstGeom prst="rect">
            <a:avLst/>
          </a:prstGeom>
          <a:solidFill>
            <a:srgbClr val="090E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305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2795" y="539234"/>
            <a:ext cx="3699510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Estratégias de Balanceamento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6172795" y="923925"/>
            <a:ext cx="7771209" cy="980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Preparação para Superar o Desafio do Desequilíbrio</a:t>
            </a:r>
            <a:endParaRPr lang="en-US" sz="3050" dirty="0"/>
          </a:p>
        </p:txBody>
      </p:sp>
      <p:sp>
        <p:nvSpPr>
          <p:cNvPr id="5" name="Text 2"/>
          <p:cNvSpPr/>
          <p:nvPr/>
        </p:nvSpPr>
        <p:spPr>
          <a:xfrm>
            <a:off x="6172795" y="2198608"/>
            <a:ext cx="7771209" cy="941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garantir que o modelo aprenda de forma eficaz o padrão sutil das transações fraudulentas, aplicamos a técnica </a:t>
            </a:r>
            <a:r>
              <a:rPr lang="en-US" sz="15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SMOTE (Synthetic Minority Oversampling Technique)</a:t>
            </a:r>
            <a:r>
              <a:rPr lang="en-US" sz="15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795" y="3360420"/>
            <a:ext cx="980599" cy="14436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49490" y="3556516"/>
            <a:ext cx="2451497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Antes do SMOTE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7349490" y="3980498"/>
            <a:ext cx="6594515" cy="627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Desbalanceamento severo: Fraudes representam menos de 0.2% do dataset, dificultando o aprendizado.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795" y="4804053"/>
            <a:ext cx="980599" cy="14436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49490" y="5000149"/>
            <a:ext cx="2837974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Mecanismo de Geração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7349490" y="5424130"/>
            <a:ext cx="6594515" cy="627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Geramos exemplos sintéticos da classe minoritária (fraude) em sua vizinhança, preservando suas características estatísticas.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795" y="6247686"/>
            <a:ext cx="980599" cy="144363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49490" y="6443782"/>
            <a:ext cx="2782372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Após o Balanceamento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7349490" y="6867763"/>
            <a:ext cx="6594515" cy="627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modelo recebe uma representação mais equilibrada das classes, melhorando a capacidade de generalização e detecção.</a:t>
            </a:r>
            <a:endParaRPr lang="en-US" sz="1500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A19DDA6-8830-31D6-8D1D-E789AA86FD11}"/>
              </a:ext>
            </a:extLst>
          </p:cNvPr>
          <p:cNvSpPr/>
          <p:nvPr/>
        </p:nvSpPr>
        <p:spPr>
          <a:xfrm>
            <a:off x="12767310" y="7670202"/>
            <a:ext cx="1863090" cy="559398"/>
          </a:xfrm>
          <a:prstGeom prst="rect">
            <a:avLst/>
          </a:prstGeom>
          <a:solidFill>
            <a:srgbClr val="090E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0095" y="598289"/>
            <a:ext cx="2767251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Metodologia Técnica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60095" y="1024414"/>
            <a:ext cx="8994815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Experimentação e Otimização de Modelos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60095" y="1893094"/>
            <a:ext cx="13110210" cy="694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Utilizamos uma abordagem comparativa com validação cruzada para avaliar o desempenho de algoritmos consagrados na detecção de anomalias.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60095" y="2832259"/>
            <a:ext cx="4225290" cy="651510"/>
          </a:xfrm>
          <a:prstGeom prst="roundRect">
            <a:avLst>
              <a:gd name="adj" fmla="val 480013"/>
            </a:avLst>
          </a:prstGeom>
          <a:solidFill>
            <a:srgbClr val="282D5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863" y="2995136"/>
            <a:ext cx="325755" cy="3257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7265" y="3700939"/>
            <a:ext cx="2714625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Regressão Logística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77265" y="4334275"/>
            <a:ext cx="3790950" cy="1042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 base linear, oferece alta interpretabilidade e velocidade de treinamento.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202555" y="2832259"/>
            <a:ext cx="4225290" cy="651510"/>
          </a:xfrm>
          <a:prstGeom prst="roundRect">
            <a:avLst>
              <a:gd name="adj" fmla="val 480013"/>
            </a:avLst>
          </a:prstGeom>
          <a:solidFill>
            <a:srgbClr val="282D5E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52323" y="2995136"/>
            <a:ext cx="325755" cy="32575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19725" y="3700939"/>
            <a:ext cx="2714625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Random Forest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5419725" y="4334275"/>
            <a:ext cx="3790950" cy="1042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Conjunto de árvores de decisão, eficaz contra overfitting e ruído nos dados.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9645015" y="2832259"/>
            <a:ext cx="4225290" cy="651510"/>
          </a:xfrm>
          <a:prstGeom prst="roundRect">
            <a:avLst>
              <a:gd name="adj" fmla="val 480013"/>
            </a:avLst>
          </a:prstGeom>
          <a:solidFill>
            <a:srgbClr val="282D5E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94783" y="2995136"/>
            <a:ext cx="325755" cy="32575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862185" y="3700939"/>
            <a:ext cx="3790950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XGBoost (Gradient Boosting)</a:t>
            </a:r>
            <a:endParaRPr lang="en-US" sz="2100" dirty="0"/>
          </a:p>
        </p:txBody>
      </p:sp>
      <p:sp>
        <p:nvSpPr>
          <p:cNvPr id="16" name="Text 11"/>
          <p:cNvSpPr/>
          <p:nvPr/>
        </p:nvSpPr>
        <p:spPr>
          <a:xfrm>
            <a:off x="9862185" y="4334275"/>
            <a:ext cx="3790950" cy="1389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Algoritmo de ponta, conhecido por sua alta performance em desafios de classificação complexos.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760095" y="6361033"/>
            <a:ext cx="13110210" cy="1270278"/>
          </a:xfrm>
          <a:prstGeom prst="roundRect">
            <a:avLst>
              <a:gd name="adj" fmla="val 7181"/>
            </a:avLst>
          </a:prstGeom>
          <a:solidFill>
            <a:srgbClr val="3E084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7265" y="6693932"/>
            <a:ext cx="271463" cy="21717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5898" y="6632496"/>
            <a:ext cx="12187238" cy="694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otimização de hiperparâmetros foi realizada via </a:t>
            </a: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RandomizedSearchCV</a:t>
            </a:r>
            <a:r>
              <a:rPr lang="en-US" sz="17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garantindo a maximização do F1-Score sem comprometer o tempo de processamento.</a:t>
            </a:r>
            <a:endParaRPr lang="en-US" sz="1700" dirty="0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8DE638C6-F933-98AA-15A9-469595E89731}"/>
              </a:ext>
            </a:extLst>
          </p:cNvPr>
          <p:cNvSpPr/>
          <p:nvPr/>
        </p:nvSpPr>
        <p:spPr>
          <a:xfrm>
            <a:off x="12767310" y="7670202"/>
            <a:ext cx="1863090" cy="559398"/>
          </a:xfrm>
          <a:prstGeom prst="rect">
            <a:avLst/>
          </a:prstGeom>
          <a:solidFill>
            <a:srgbClr val="090E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1833" y="949642"/>
            <a:ext cx="2708434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Resultados Consolidados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6091833" y="1479352"/>
            <a:ext cx="7933134" cy="216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0"/>
              </a:lnSpc>
              <a:buNone/>
            </a:pPr>
            <a:r>
              <a:rPr lang="en-US" sz="68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XGBoost: O Modelo Vencedor</a:t>
            </a:r>
            <a:endParaRPr lang="en-US" sz="6800" dirty="0"/>
          </a:p>
        </p:txBody>
      </p:sp>
      <p:sp>
        <p:nvSpPr>
          <p:cNvPr id="5" name="Text 2"/>
          <p:cNvSpPr/>
          <p:nvPr/>
        </p:nvSpPr>
        <p:spPr>
          <a:xfrm>
            <a:off x="6091833" y="3901202"/>
            <a:ext cx="7933134" cy="830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modelo XGBoost foi o escolhido. Ele funciona como uma </a:t>
            </a:r>
            <a:r>
              <a:rPr lang="en-US" sz="13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balança de precisão</a:t>
            </a: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que, ao ser </a:t>
            </a:r>
            <a:r>
              <a:rPr lang="en-US" sz="13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ajustada</a:t>
            </a: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nos permite maximizar o acerto nas fraudes (Recall) ao mesmo tempo que reduz o número de alarmes falsos, garantindo o melhor resultado financeiro para o banco.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091833" y="5012293"/>
            <a:ext cx="2500193" cy="570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0.87</a:t>
            </a:r>
            <a:endParaRPr lang="en-US" sz="4450" dirty="0"/>
          </a:p>
        </p:txBody>
      </p:sp>
      <p:sp>
        <p:nvSpPr>
          <p:cNvPr id="7" name="Text 4"/>
          <p:cNvSpPr/>
          <p:nvPr/>
        </p:nvSpPr>
        <p:spPr>
          <a:xfrm>
            <a:off x="6260663" y="5799177"/>
            <a:ext cx="2162413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F1-Score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1833" y="6173153"/>
            <a:ext cx="2500193" cy="1106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Indica o equilíbrio superior na detecção de fraudes e na minimização de falsos positivos.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808244" y="5012293"/>
            <a:ext cx="2500193" cy="570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0.98</a:t>
            </a:r>
            <a:endParaRPr lang="en-US" sz="4450" dirty="0"/>
          </a:p>
        </p:txBody>
      </p:sp>
      <p:sp>
        <p:nvSpPr>
          <p:cNvPr id="10" name="Text 7"/>
          <p:cNvSpPr/>
          <p:nvPr/>
        </p:nvSpPr>
        <p:spPr>
          <a:xfrm>
            <a:off x="8977074" y="5799177"/>
            <a:ext cx="2162413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ROC AUC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808244" y="6173153"/>
            <a:ext cx="2500193" cy="1106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Área sob a curva robusta, demonstrando a excelente capacidade de discriminação do modelo.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1524655" y="5012293"/>
            <a:ext cx="2500193" cy="570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0.96</a:t>
            </a:r>
            <a:endParaRPr lang="en-US" sz="4450" dirty="0"/>
          </a:p>
        </p:txBody>
      </p:sp>
      <p:sp>
        <p:nvSpPr>
          <p:cNvPr id="13" name="Text 10"/>
          <p:cNvSpPr/>
          <p:nvPr/>
        </p:nvSpPr>
        <p:spPr>
          <a:xfrm>
            <a:off x="11693485" y="5799177"/>
            <a:ext cx="2162413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Precision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1524655" y="6173153"/>
            <a:ext cx="2500193" cy="830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Dos alertas emitidos, 96% correspondem a fraudes reais (baixo Falso Positivo).</a:t>
            </a:r>
            <a:endParaRPr lang="en-US" sz="1350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53AA5EF-816E-395D-1EBF-FDB54F096974}"/>
              </a:ext>
            </a:extLst>
          </p:cNvPr>
          <p:cNvSpPr/>
          <p:nvPr/>
        </p:nvSpPr>
        <p:spPr>
          <a:xfrm>
            <a:off x="12767310" y="7670202"/>
            <a:ext cx="1863090" cy="559398"/>
          </a:xfrm>
          <a:prstGeom prst="rect">
            <a:avLst/>
          </a:prstGeom>
          <a:solidFill>
            <a:srgbClr val="090E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6216"/>
            <a:ext cx="54812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Valor de Negócio e Impacto Estratégico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601272"/>
            <a:ext cx="1032236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Traduzindo Métricas em Ganhos Operacionais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1263491" y="2774990"/>
            <a:ext cx="3769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Redução de Perdas Diretas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265408"/>
            <a:ext cx="42388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Detecção precoce e precisa de fraudes minimiza o desembolso financeiro do banco.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508409"/>
            <a:ext cx="4564975" cy="456497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4362" y="3800118"/>
            <a:ext cx="318968" cy="3189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97628" y="2774990"/>
            <a:ext cx="31377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Eficiência Operacional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597628" y="3265408"/>
            <a:ext cx="423898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baixa taxa de Falsos Positivos otimiza o tempo da equipe de risco, focando recursos em casos reais.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508409"/>
            <a:ext cx="4564975" cy="4564975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86713" y="3800118"/>
            <a:ext cx="318968" cy="3189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597628" y="5227558"/>
            <a:ext cx="31313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Experiência do Cliente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9597628" y="5717977"/>
            <a:ext cx="423898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Diminuição de bloqueios indevidos em transações legítimas, elevando a satisfação e confiança.</a:t>
            </a:r>
            <a:endParaRPr lang="en-US" sz="17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508409"/>
            <a:ext cx="4564975" cy="4564975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86713" y="5462468"/>
            <a:ext cx="318968" cy="31896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334095" y="5227558"/>
            <a:ext cx="36985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Integração em Tempo Real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793790" y="5717977"/>
            <a:ext cx="42388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modelo é leve e pode ser integrado à API de transações para decisões instantâneas (milissegundos).</a:t>
            </a:r>
            <a:endParaRPr lang="en-US" sz="17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2508409"/>
            <a:ext cx="4564975" cy="4564975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24362" y="5462468"/>
            <a:ext cx="318968" cy="318968"/>
          </a:xfrm>
          <a:prstGeom prst="rect">
            <a:avLst/>
          </a:prstGeom>
        </p:spPr>
      </p:pic>
      <p:sp>
        <p:nvSpPr>
          <p:cNvPr id="20" name="Retângulo 19">
            <a:extLst>
              <a:ext uri="{FF2B5EF4-FFF2-40B4-BE49-F238E27FC236}">
                <a16:creationId xmlns:a16="http://schemas.microsoft.com/office/drawing/2014/main" id="{46BAEF04-77CD-855C-1D97-2A5A997980C1}"/>
              </a:ext>
            </a:extLst>
          </p:cNvPr>
          <p:cNvSpPr/>
          <p:nvPr/>
        </p:nvSpPr>
        <p:spPr>
          <a:xfrm>
            <a:off x="12767310" y="7670202"/>
            <a:ext cx="1863090" cy="559398"/>
          </a:xfrm>
          <a:prstGeom prst="rect">
            <a:avLst/>
          </a:prstGeom>
          <a:solidFill>
            <a:srgbClr val="090E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10759"/>
            <a:ext cx="749248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Sumário Executivo e Fechamento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33136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82D5E"/>
          </a:solidFill>
          <a:ln/>
        </p:spPr>
      </p:sp>
      <p:sp>
        <p:nvSpPr>
          <p:cNvPr id="4" name="Text 2"/>
          <p:cNvSpPr/>
          <p:nvPr/>
        </p:nvSpPr>
        <p:spPr>
          <a:xfrm>
            <a:off x="878860" y="237386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530906" y="2373868"/>
            <a:ext cx="3421499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Problema de Alto Impacto Resolvido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30906" y="3360539"/>
            <a:ext cx="342149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desafio do desbalanceamento extremo foi superado, transformando um problema de risco em uma oportunidade de otimização.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35893" y="233136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82D5E"/>
          </a:solidFill>
          <a:ln/>
        </p:spPr>
      </p:sp>
      <p:sp>
        <p:nvSpPr>
          <p:cNvPr id="8" name="Text 6"/>
          <p:cNvSpPr/>
          <p:nvPr/>
        </p:nvSpPr>
        <p:spPr>
          <a:xfrm>
            <a:off x="5320963" y="237386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5973008" y="2373868"/>
            <a:ext cx="3421499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Solução Robusta e Estatisticamente Validada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5973008" y="3785830"/>
            <a:ext cx="342149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 XGBoost otimizado, alcançamos um F1-Score de 0.87, validando a eficácia e o equilíbrio entre Recall e Precision.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77995" y="233136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82D5E"/>
          </a:solidFill>
          <a:ln/>
        </p:spPr>
      </p:sp>
      <p:sp>
        <p:nvSpPr>
          <p:cNvPr id="12" name="Text 10"/>
          <p:cNvSpPr/>
          <p:nvPr/>
        </p:nvSpPr>
        <p:spPr>
          <a:xfrm>
            <a:off x="9763065" y="237386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3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10415111" y="2373868"/>
            <a:ext cx="3421499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Geração de Valor Imediato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0415111" y="3360539"/>
            <a:ext cx="342149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modelo está pronto para ser implementado, reduzindo perdas diretas e aumentando a satisfação do cliente.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275517" y="5940504"/>
            <a:ext cx="12079248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Menos Perdas. Mais Confiança.</a:t>
            </a:r>
            <a:endParaRPr lang="en-US" sz="6150" dirty="0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48557AE-A75E-84E7-015C-72751767D3C8}"/>
              </a:ext>
            </a:extLst>
          </p:cNvPr>
          <p:cNvSpPr/>
          <p:nvPr/>
        </p:nvSpPr>
        <p:spPr>
          <a:xfrm>
            <a:off x="12767310" y="7670202"/>
            <a:ext cx="1863090" cy="559398"/>
          </a:xfrm>
          <a:prstGeom prst="rect">
            <a:avLst/>
          </a:prstGeom>
          <a:solidFill>
            <a:srgbClr val="090E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4491" y="2679621"/>
            <a:ext cx="11341298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150"/>
              </a:lnSpc>
              <a:buNone/>
            </a:pPr>
            <a:r>
              <a:rPr lang="en-US" sz="89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Obrigado!</a:t>
            </a:r>
            <a:endParaRPr lang="en-US" sz="8900" dirty="0"/>
          </a:p>
        </p:txBody>
      </p:sp>
      <p:sp>
        <p:nvSpPr>
          <p:cNvPr id="3" name="Text 1"/>
          <p:cNvSpPr/>
          <p:nvPr/>
        </p:nvSpPr>
        <p:spPr>
          <a:xfrm>
            <a:off x="793790" y="4550926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Este projeto de Detecção de Fraude foi desenvolvido como Trabalho de Conclusão para o curso de </a:t>
            </a:r>
            <a:r>
              <a:rPr lang="en-US" sz="14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Cientista de Dados da EBAC</a:t>
            </a:r>
            <a:r>
              <a:rPr lang="en-US" sz="14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5096351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Leonardo Prado</a:t>
            </a:r>
            <a:endParaRPr lang="en-US" sz="2200" b="1" dirty="0">
              <a:solidFill>
                <a:srgbClr val="EEAEF6"/>
              </a:solidFill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D34D72A-53BB-77F8-322E-ED6EB114E8E7}"/>
              </a:ext>
            </a:extLst>
          </p:cNvPr>
          <p:cNvSpPr/>
          <p:nvPr/>
        </p:nvSpPr>
        <p:spPr>
          <a:xfrm>
            <a:off x="12767310" y="7670202"/>
            <a:ext cx="1863090" cy="559398"/>
          </a:xfrm>
          <a:prstGeom prst="rect">
            <a:avLst/>
          </a:prstGeom>
          <a:solidFill>
            <a:srgbClr val="090E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824</Words>
  <Application>Microsoft Office PowerPoint</Application>
  <PresentationFormat>Personalizados</PresentationFormat>
  <Paragraphs>93</Paragraphs>
  <Slides>10</Slides>
  <Notes>10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4" baseType="lpstr">
      <vt:lpstr>Bricolage Grotesque Extra Bold</vt:lpstr>
      <vt:lpstr>Montserrat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Leonardo Prado</dc:creator>
  <cp:lastModifiedBy>Leonardo Prado</cp:lastModifiedBy>
  <cp:revision>3</cp:revision>
  <dcterms:created xsi:type="dcterms:W3CDTF">2025-10-27T22:59:34Z</dcterms:created>
  <dcterms:modified xsi:type="dcterms:W3CDTF">2025-10-27T23:07:26Z</dcterms:modified>
</cp:coreProperties>
</file>